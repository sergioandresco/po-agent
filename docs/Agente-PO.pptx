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Agente PO convierte la transcripción de una reunión en un backlog estructurado y trazable. Proyecto final de la materia de PLN.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entrada es texto plano. La salida son artefactos tipados, y cada uno conserva el fragmento exacto que lo originó, con offsets de carácter.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no es automatizar al PO sino reducir el trabajo mecánico manteniendo la revisión humana y la trazabilidad verificable.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etapas: dos deterministas en los extremos y cinco con el modelo en medio. Las etapas deterministas son las que sostienen la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dos decisiones son la respuesta técnica al requisito de trazabilidad: offsets deterministas y validación estricta del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no obvio es la columna de contratos: los modelos Pydantic son la fuente de verdad y de ahí se generan los tipos del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caminos independientes: la entrega del sitio estático y la API. El desacople por cola es lo que permite que el pipeline tarde un minuto sin bloquear ninguna petición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autoalojado y nada con costo fijo por hora. Todo es pago por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números vienen de una corrida real. El hallazgo de duplicados es un resultado del proyecto, no un defecto pendiente de esconder.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conclusión más fuerte: la trazabilidad verificable se consigue restringiendo lo que se le pide al modelo, no confiando en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TRANSCRIPCIÓN  →  BACKLOG TRAZABLE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PO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asistida de backlog a partir de transcripciones de reuniones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011680" cy="0"/>
          </a:xfrm>
          <a:prstGeom prst="line">
            <a:avLst/>
          </a:prstGeom>
          <a:noFill/>
          <a:ln w="19050">
            <a:solidFill>
              <a:srgbClr val="3134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03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Integrantes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Aníbal Vásquez Beltrán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Cobos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final  ·  Procesamiento de Lenguaje Natural  ·  Maestría  ·  Agosto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1051560"/>
            <a:ext cx="3840480" cy="4206240"/>
          </a:xfrm>
          <a:prstGeom prst="roundRect">
            <a:avLst>
              <a:gd name="adj" fmla="val 142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28432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fixtures/sample_meeting.txt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28432" y="16276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[00:00:18] Carlos (Backend):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28432" y="1865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necesitamos un servicio que dispare eventos cuando cambia el estado de un pedido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28432" y="25237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[00:00:52] Sofía (Diseño):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028432" y="27614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quiero recibir una notificación push cuando mi pedido cambia de estado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28432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[00:01:30] Ana: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36576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pasa si el usuario tiene las notificaciones desactivadas?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28432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5 historias de usuario, cada una con su respaldo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PROYECTO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817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recibe la transcripción de una reunión de refinamiento y devuelve un backlog estructurado y trazable, listo para que un Product Owner lo revise.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035040" cy="1170432"/>
          </a:xfrm>
          <a:prstGeom prst="roundRect">
            <a:avLst>
              <a:gd name="adj" fmla="val 4688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04872"/>
            <a:ext cx="310896" cy="310896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350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6517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 de la reunión, en formato «Hablante: texto», con o sin marcas de tiempo.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6035040" cy="1170432"/>
          </a:xfrm>
          <a:prstGeom prst="roundRect">
            <a:avLst>
              <a:gd name="adj" fmla="val 4688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730752"/>
            <a:ext cx="310896" cy="310896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9776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etapas encadenadas: normalización, segmentación temática, clasificación de enunciados, extracción de entidades, organización, estimación y validación.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6035040" cy="1170432"/>
          </a:xfrm>
          <a:prstGeom prst="roundRect">
            <a:avLst>
              <a:gd name="adj" fmla="val 4688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5056632"/>
            <a:ext cx="310896" cy="310896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001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3035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Épicas, features e historias de usuario con criterios de aceptación, subtareas, refinamiento y estimación en puntos.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03720" y="2148840"/>
            <a:ext cx="4709160" cy="3822192"/>
          </a:xfrm>
          <a:prstGeom prst="roundRect">
            <a:avLst>
              <a:gd name="adj" fmla="val 1435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23591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 GENERADA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6334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notificaciones push de estado de pedido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2004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la app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quiero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una notificación cuando mi pedido cambia de estado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en qué punto va sin abrir la app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78040" y="4526280"/>
            <a:ext cx="4206240" cy="0"/>
          </a:xfrm>
          <a:prstGeom prst="line">
            <a:avLst/>
          </a:prstGeom>
          <a:noFill/>
          <a:ln w="12700">
            <a:solidFill>
              <a:srgbClr val="3134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46268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RESPALDO EN LA TRANSCRIPCIÓN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90118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C5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«quiero recibir una notificación push cuando mi pedido cambia de estado»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C5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objetivo_y_arquitectura · offsets 532–722 · Sofía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 de la corrida local_47a63410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principios que condicionan el diseño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07008"/>
          </a:xfrm>
          <a:prstGeom prst="roundRect">
            <a:avLst>
              <a:gd name="adj" fmla="val 4545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59152"/>
            <a:ext cx="420624" cy="420624"/>
          </a:xfrm>
          <a:prstGeom prst="ellipse">
            <a:avLst/>
          </a:prstGeom>
          <a:solidFill>
            <a:srgbClr val="2A2544"/>
          </a:solidFill>
          <a:ln w="19050">
            <a:solidFill>
              <a:srgbClr val="B5AB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8541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al Product Owner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328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produce un borrador que un humano revisa, edita y aprueba. Todo artefacto nace en estado draft y solo una persona lo mueve a approved.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11064240" cy="1207008"/>
          </a:xfrm>
          <a:prstGeom prst="roundRect">
            <a:avLst>
              <a:gd name="adj" fmla="val 4545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12464"/>
            <a:ext cx="420624" cy="420624"/>
          </a:xfrm>
          <a:prstGeom prst="ellipse">
            <a:avLst/>
          </a:prstGeom>
          <a:solidFill>
            <a:srgbClr val="2A2544"/>
          </a:solidFill>
          <a:ln w="19050">
            <a:solidFill>
              <a:srgbClr val="7AC5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C5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5387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trazabilidad no es opcional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886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artefacto generado apunta a los fragmentos exactos de la transcripción que lo originan. Un artefacto sin respaldo es un defecto, no un detalle: la etapa de validación lo rechaza.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207008"/>
          </a:xfrm>
          <a:prstGeom prst="roundRect">
            <a:avLst>
              <a:gd name="adj" fmla="val 4545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65776"/>
            <a:ext cx="420624" cy="420624"/>
          </a:xfrm>
          <a:prstGeom prst="ellipse">
            <a:avLst/>
          </a:prstGeom>
          <a:solidFill>
            <a:srgbClr val="2A2544"/>
          </a:solidFill>
          <a:ln w="19050">
            <a:solidFill>
              <a:srgbClr val="D683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8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89204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se mide por etapas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239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registra su latencia, sus entradas y sus salidas intermedias. Esos datos son los que alimentan la evaluación experimental del informe.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PROCESAMIENTO DE LENGUAJE NATURAL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de siete etapas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817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es una función pura, testeable de forma aislada. Las llamadas al modelo entran por inyección de dependencia, nunca importadas dentro de la etapa.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0320" cy="1627632"/>
          </a:xfrm>
          <a:prstGeom prst="roundRect">
            <a:avLst>
              <a:gd name="adj" fmla="val 3371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322576"/>
            <a:ext cx="274320" cy="274320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30428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" y="2670048"/>
            <a:ext cx="1097280" cy="219456"/>
          </a:xfrm>
          <a:prstGeom prst="roundRect">
            <a:avLst>
              <a:gd name="adj" fmla="val 41667"/>
            </a:avLst>
          </a:prstGeom>
          <a:solidFill>
            <a:srgbClr val="1F2131"/>
          </a:solidFill>
          <a:ln w="12700">
            <a:solidFill>
              <a:srgbClr val="7AC59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2670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C5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DETERMINISTA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980944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 los turnos de habla y calcula los offsets de carácter sobre el texto original.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103120"/>
            <a:ext cx="2560320" cy="1627632"/>
          </a:xfrm>
          <a:prstGeom prst="roundRect">
            <a:avLst>
              <a:gd name="adj" fmla="val 3371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02736" y="2322576"/>
            <a:ext cx="274320" cy="274320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2736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30428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02736" y="2670048"/>
            <a:ext cx="480060" cy="219456"/>
          </a:xfrm>
          <a:prstGeom prst="roundRect">
            <a:avLst>
              <a:gd name="adj" fmla="val 41667"/>
            </a:avLst>
          </a:prstGeom>
          <a:solidFill>
            <a:srgbClr val="1F2131"/>
          </a:solidFill>
          <a:ln w="12700">
            <a:solidFill>
              <a:srgbClr val="B5AB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02736" y="2670048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602736" y="2980944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enunciados en bloques temáticos coherentes.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560320" cy="1627632"/>
          </a:xfrm>
          <a:prstGeom prst="roundRect">
            <a:avLst>
              <a:gd name="adj" fmla="val 3371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2322576"/>
            <a:ext cx="274320" cy="274320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7376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230428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37376" y="2670048"/>
            <a:ext cx="480060" cy="219456"/>
          </a:xfrm>
          <a:prstGeom prst="roundRect">
            <a:avLst>
              <a:gd name="adj" fmla="val 41667"/>
            </a:avLst>
          </a:prstGeom>
          <a:solidFill>
            <a:srgbClr val="1F2131"/>
          </a:solidFill>
          <a:ln w="12700">
            <a:solidFill>
              <a:srgbClr val="B5AB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2670048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980944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cada enunciado: requisito, riesgo, decisión, restricción, pregunta.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52560" y="2103120"/>
            <a:ext cx="2560320" cy="1627632"/>
          </a:xfrm>
          <a:prstGeom prst="roundRect">
            <a:avLst>
              <a:gd name="adj" fmla="val 3371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72016" y="2322576"/>
            <a:ext cx="274320" cy="274320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72016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19488" y="230428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extract_entities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72016" y="2670048"/>
            <a:ext cx="480060" cy="219456"/>
          </a:xfrm>
          <a:prstGeom prst="roundRect">
            <a:avLst>
              <a:gd name="adj" fmla="val 41667"/>
            </a:avLst>
          </a:prstGeom>
          <a:solidFill>
            <a:srgbClr val="1F2131"/>
          </a:solidFill>
          <a:ln w="12700">
            <a:solidFill>
              <a:srgbClr val="B5AB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72016" y="2670048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272016" y="2980944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candidatos de historia con criterios y subtareas.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65960" y="4005072"/>
            <a:ext cx="2560320" cy="1627632"/>
          </a:xfrm>
          <a:prstGeom prst="roundRect">
            <a:avLst>
              <a:gd name="adj" fmla="val 3371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85416" y="4224528"/>
            <a:ext cx="274320" cy="274320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85416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532888" y="42062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generate_backlog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185416" y="4572000"/>
            <a:ext cx="480060" cy="219456"/>
          </a:xfrm>
          <a:prstGeom prst="roundRect">
            <a:avLst>
              <a:gd name="adj" fmla="val 41667"/>
            </a:avLst>
          </a:prstGeom>
          <a:solidFill>
            <a:srgbClr val="1F2131"/>
          </a:solidFill>
          <a:ln w="12700">
            <a:solidFill>
              <a:srgbClr val="B5ABF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85416" y="4572000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2185416" y="4882896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en épicas y features, y añade el refinamiento.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4005072"/>
            <a:ext cx="2560320" cy="1627632"/>
          </a:xfrm>
          <a:prstGeom prst="roundRect">
            <a:avLst>
              <a:gd name="adj" fmla="val 3371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0056" y="4224528"/>
            <a:ext cx="274320" cy="274320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0056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367528" y="42062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0056" y="4572000"/>
            <a:ext cx="480060" cy="219456"/>
          </a:xfrm>
          <a:prstGeom prst="roundRect">
            <a:avLst>
              <a:gd name="adj" fmla="val 41667"/>
            </a:avLst>
          </a:prstGeom>
          <a:solidFill>
            <a:srgbClr val="1F2131"/>
          </a:solidFill>
          <a:ln w="12700">
            <a:solidFill>
              <a:srgbClr val="B5ABF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0056" y="4572000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020056" y="4882896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puntos de historia con justificación explícita.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35240" y="4005072"/>
            <a:ext cx="2560320" cy="1627632"/>
          </a:xfrm>
          <a:prstGeom prst="roundRect">
            <a:avLst>
              <a:gd name="adj" fmla="val 3371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54696" y="4224528"/>
            <a:ext cx="274320" cy="274320"/>
          </a:xfrm>
          <a:prstGeom prst="ellipse">
            <a:avLst/>
          </a:prstGeom>
          <a:solidFill>
            <a:srgbClr val="2A2544"/>
          </a:solidFill>
          <a:ln w="12700">
            <a:solidFill>
              <a:srgbClr val="9184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54696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202168" y="42062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854696" y="4572000"/>
            <a:ext cx="1097280" cy="219456"/>
          </a:xfrm>
          <a:prstGeom prst="roundRect">
            <a:avLst>
              <a:gd name="adj" fmla="val 41667"/>
            </a:avLst>
          </a:prstGeom>
          <a:solidFill>
            <a:srgbClr val="1F2131"/>
          </a:solidFill>
          <a:ln w="12700">
            <a:solidFill>
              <a:srgbClr val="7AC59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854696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C5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DETERMINISTA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7854696" y="4882896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todo artefacto que no tenga respaldo en la transcripción.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etapas 3 y 4 se ejecutan una vez por segmento; el resto, una vez por reunión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PROCESAMIENTO DE LENGUAJE NATURAL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decisiones que hacen la trazabilidad verificable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724912"/>
          </a:xfrm>
          <a:prstGeom prst="roundRect">
            <a:avLst>
              <a:gd name="adj" fmla="val 2013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offsets nunca los produce el modelo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8094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normalize calcula una sola vez la posición exacta de cada turno de habla en el texto original. El modelo solo devuelve índices de enunciado; el sistema reconstruye la cita desde el texto real.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Así, una cita no puede ser inventada: o corresponde a un fragmento existente, o el artefacto se rechaza.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2724912"/>
          </a:xfrm>
          <a:prstGeom prst="roundRect">
            <a:avLst>
              <a:gd name="adj" fmla="val 2013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957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estructurada, validada y reintentada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8094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salida se pide como JSON con esquema declarado y se valida con Pydantic antes de persistirla. Si no valida, se reintenta una vez con el error de validación dentro del prompt.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otra vez, la etapa se marca como fallida y queda registrada: no se guarda nada a medias.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919472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de proveedor.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nunca importa una clase de proveedor: habla contra un Protocol. Cambiar de modelo es una línea de configuración — y se puso a prueba solo, cuando Google apagó gemini-2.5-flash a mitad del proyecto.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2152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94560"/>
            <a:ext cx="128016" cy="128016"/>
          </a:xfrm>
          <a:prstGeom prst="ellipse">
            <a:avLst/>
          </a:prstGeom>
          <a:solidFill>
            <a:srgbClr val="B5ABFC"/>
          </a:solidFill>
          <a:ln w="12700">
            <a:solidFill>
              <a:srgbClr val="B5AB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21214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 · App Router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estricto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 4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estático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502152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94560"/>
            <a:ext cx="128016" cy="128016"/>
          </a:xfrm>
          <a:prstGeom prst="ellipse">
            <a:avLst/>
          </a:prstGeom>
          <a:solidFill>
            <a:srgbClr val="F0A868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5464" y="21214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542032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+ Mangum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Lambda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 v2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502152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194560"/>
            <a:ext cx="128016" cy="128016"/>
          </a:xfrm>
          <a:prstGeom prst="ellipse">
            <a:avLst/>
          </a:prstGeom>
          <a:solidFill>
            <a:srgbClr val="7AC59D"/>
          </a:solidFill>
          <a:ln w="12700">
            <a:solidFill>
              <a:srgbClr val="7AC59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31936" y="21214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542032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 = fuente única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JSON Schema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tipos TypeScript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duplicar tipos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02152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251960"/>
            <a:ext cx="128016" cy="128016"/>
          </a:xfrm>
          <a:prstGeom prst="ellipse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41788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599432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CDK (TypeScript)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 · S3 · SQS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HTTP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CloudFront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977640"/>
            <a:ext cx="3502152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4251960"/>
            <a:ext cx="128016" cy="128016"/>
          </a:xfrm>
          <a:prstGeom prst="ellipse">
            <a:avLst/>
          </a:prstGeom>
          <a:solidFill>
            <a:srgbClr val="D6837F"/>
          </a:solidFill>
          <a:ln w="12700">
            <a:solidFill>
              <a:srgbClr val="D6837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55464" y="41788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599432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3.1 Flash Lite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Interactions API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con esquema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intercambiable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1584" y="3977640"/>
            <a:ext cx="3502152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4251960"/>
            <a:ext cx="128016" cy="128016"/>
          </a:xfrm>
          <a:prstGeom prst="ellipse">
            <a:avLst/>
          </a:prstGeom>
          <a:solidFill>
            <a:srgbClr val="C3A6F5"/>
          </a:solidFill>
          <a:ln w="12700">
            <a:solidFill>
              <a:srgbClr val="C3A6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31936" y="41788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599432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Clerk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en cada petición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Aislamiento por userId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Verificado en el backend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el código en inglés; la documentación del proyecto en español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5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estático, backend serverless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817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nunca espera al pipeline: POST /jobs responde 202 y el trabajo sigue en una cola. El frontend consulta el estado por polling.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5B5F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26771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53288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estático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88920" y="214884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8C4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26771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253288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Function de rutas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0" y="214884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7AA1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02352" y="226771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privado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253288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OAC · sin acceso público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31720" y="2523744"/>
            <a:ext cx="457200" cy="0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011680" y="1874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0" y="2523744"/>
            <a:ext cx="457200" cy="0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251960" y="1874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8C4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6850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395020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API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88920" y="356616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ED71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62072" y="36850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Api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843784" y="395020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+ Mangum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0" y="356616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E715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02352" y="36850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84064" y="395020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 de jobs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69480" y="356616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ED71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42632" y="36850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Worker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324344" y="395020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 · pipeline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509760" y="356616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5B5F7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82912" y="36850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564624" y="395020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3.1-flash-lite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31720" y="3941064"/>
            <a:ext cx="457200" cy="0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01168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0" y="3941064"/>
            <a:ext cx="457200" cy="0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25196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encola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12280" y="3941064"/>
            <a:ext cx="457200" cy="0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49224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052560" y="3941064"/>
            <a:ext cx="457200" cy="0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873252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etapas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440180" y="2898648"/>
            <a:ext cx="0" cy="667512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1513332" y="29900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 JWT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88920" y="498348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C925D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62072" y="51023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843784" y="5367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única · PK/SK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0" y="498348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2225">
            <a:solidFill>
              <a:srgbClr val="7AA11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02352" y="51023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084064" y="5367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transcripciones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80460" y="4315968"/>
            <a:ext cx="0" cy="374904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61020" y="4315968"/>
            <a:ext cx="0" cy="374904"/>
          </a:xfrm>
          <a:prstGeom prst="line">
            <a:avLst/>
          </a:prstGeom>
          <a:noFill/>
          <a:ln w="19050">
            <a:solidFill>
              <a:srgbClr val="8A8EA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3680460" y="4690872"/>
            <a:ext cx="4480560" cy="0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80460" y="4690872"/>
            <a:ext cx="0" cy="292608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920740" y="4690872"/>
            <a:ext cx="0" cy="292608"/>
          </a:xfrm>
          <a:prstGeom prst="line">
            <a:avLst/>
          </a:prstGeom>
          <a:noFill/>
          <a:ln w="19050">
            <a:solidFill>
              <a:srgbClr val="8A8EA0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7132320" y="5001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B5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Api escribe;  el Worker lee la transcripción y persiste estado y resultado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Diagrama completo y editable en docs/arquitectura.drawio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 EN LA NUBE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versionada y sin costo fijo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502152" cy="1517904"/>
          </a:xfrm>
          <a:prstGeom prst="roundRect">
            <a:avLst>
              <a:gd name="adj" fmla="val 3614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2996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S3 privado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05456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bucket no tiene acceso público: solo la distribución lo lee, mediante un Origin Access Control. Una CloudFront Function resuelve las rutas del export estático.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5112" y="1810512"/>
            <a:ext cx="3502152" cy="1517904"/>
          </a:xfrm>
          <a:prstGeom prst="roundRect">
            <a:avLst>
              <a:gd name="adj" fmla="val 3614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202996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Lambda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505456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aplicación FastAPI corre igual en local con uvicorn y en Lambda con Mangum. No hay una segunda implementación que mantener sincronizada.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01584" y="1810512"/>
            <a:ext cx="3502152" cy="1517904"/>
          </a:xfrm>
          <a:prstGeom prst="roundRect">
            <a:avLst>
              <a:gd name="adj" fmla="val 3614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75904" y="202996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+ Lambda Worker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2505456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/jobs responde 202 y encola. El worker corre el pipeline con un techo de 15 minutos. Una DLQ recoge los mensajes malformados.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3502152" cy="1517904"/>
          </a:xfrm>
          <a:prstGeom prst="roundRect">
            <a:avLst>
              <a:gd name="adj" fmla="val 3614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221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de tabla única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97680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artefactos son items separados: un backlog completo excede el límite de 400 KB por item, y editar una historia obligaría a reescribir el resultado entero.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25112" y="3602736"/>
            <a:ext cx="3502152" cy="1517904"/>
          </a:xfrm>
          <a:prstGeom prst="roundRect">
            <a:avLst>
              <a:gd name="adj" fmla="val 3614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38221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Store + CloudWatch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297680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claves se leen cifradas en el arranque en frío, no viven en variables de entorno. Cada etapa emite un log estructurado con jobId.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01584" y="3602736"/>
            <a:ext cx="3502152" cy="1517904"/>
          </a:xfrm>
          <a:prstGeom prst="roundRect">
            <a:avLst>
              <a:gd name="adj" fmla="val 3614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38221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 en TypeScript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4297680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infraestructura está en el repositorio. Reproducirla en otra cuenta es un cdk deploy.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56869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Costo.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cae dentro de la capa gratuita con el volumen del proyecto. El gasto real son las llamadas al modelo, y por eso el worker no reintenta: cada reintento automático sería otra ronda de llamadas pagadas.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 MEDIDOS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corrida completa, extremo a extremo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37360" cy="1600200"/>
          </a:xfrm>
          <a:prstGeom prst="roundRect">
            <a:avLst>
              <a:gd name="adj" fmla="val 342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385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14016" y="1783080"/>
            <a:ext cx="1737360" cy="1600200"/>
          </a:xfrm>
          <a:prstGeom prst="roundRect">
            <a:avLst>
              <a:gd name="adj" fmla="val 342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14016" y="19385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414016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temáticos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1737360" cy="1600200"/>
          </a:xfrm>
          <a:prstGeom prst="roundRect">
            <a:avLst>
              <a:gd name="adj" fmla="val 342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9392" y="19385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usuario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783080"/>
            <a:ext cx="1737360" cy="1600200"/>
          </a:xfrm>
          <a:prstGeom prst="roundRect">
            <a:avLst>
              <a:gd name="adj" fmla="val 342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44768" y="19385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modelo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1783080"/>
            <a:ext cx="1737360" cy="1600200"/>
          </a:xfrm>
          <a:prstGeom prst="roundRect">
            <a:avLst>
              <a:gd name="adj" fmla="val 342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10144" y="19385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s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010144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783080"/>
            <a:ext cx="1737360" cy="1600200"/>
          </a:xfrm>
          <a:prstGeom prst="roundRect">
            <a:avLst>
              <a:gd name="adj" fmla="val 342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0" y="19385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respaldo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38953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Hallazgo: historias duplicadas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27939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requisito mencionado en dos momentos de la reunión produce dos historias. generate_backlog recibe los candidatos de todos los segmentos pero no los deduplica.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hace visible porque las estimaciones divergen: 5 y 8 puntos para el mismo requisito. Es una métrica concreta para la evaluación experimental.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38953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disponible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2976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{"stage": "segment", "event": "llm_call",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"gemini-3.1-flash-lite",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"input_tokens": 658, "output_tokens": 230,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"latency_ms": 5661.4}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230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Modelo, tokens y latencia por cada llamada, en logs estructurados. Es la materia prima de las mediciones del informe.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Corrida local_47a63410 sobre la transcripción de ejemplo del repositorio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aprendimos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665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trazabilidad se logra quitándole trabajo al modelo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7004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offsets se calculan de forma determinista y el modelo solo devuelve índices. Pedirle citas literales al LLM habría hecho el respaldo indistinguible de una invención.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665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abstracción de proveedor se pagó sola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7004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apagó gemini-2.5-flash a mitad del proyecto. Migrar fue cambiar una línea de configuración, sin tocar ninguna etapa del pipeline.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91B28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239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por etapas expone la calidad, no solo el rendimiento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2744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tokens y latencia por etapa fue lo que hizo evidente el problema de duplicación, que ningún test unitario habría detectado.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F2131"/>
          </a:solidFill>
          <a:ln w="12700">
            <a:solidFill>
              <a:srgbClr val="3134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1239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72744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el orquestador en Step Functions para esquivar el techo de 15 minutos, caché por hash de prompt para no pagar dos veces la misma llamada, y deduplicación semántica de candidatos.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 PO  ·  David Aníbal Vásquez Beltrán  ·  Sergio Cobos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PO</dc:title>
  <dc:subject>PptxGenJS Presentation</dc:subject>
  <dc:creator>David Aníbal Vásquez Beltrán · Sergio Cobos</dc:creator>
  <cp:lastModifiedBy>David Aníbal Vásquez Beltrán · Sergio Cobos</cp:lastModifiedBy>
  <cp:revision>1</cp:revision>
  <dcterms:created xsi:type="dcterms:W3CDTF">2026-08-31T12:40:51Z</dcterms:created>
  <dcterms:modified xsi:type="dcterms:W3CDTF">2026-08-31T12:40:51Z</dcterms:modified>
</cp:coreProperties>
</file>